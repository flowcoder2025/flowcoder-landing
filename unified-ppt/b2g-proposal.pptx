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flowcoder-landing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r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D4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시대 지역 청년 역량 강화 및</a:t>
            </a:r>
            <a:endParaRPr lang="en-US" sz="4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창업 생태계 구축 사업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5F7F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메이커스페이스 + FlowSpace + AI 취창업 교육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5F7F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FlowCoder | Build. Automate. Grow.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9164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459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사업 배경 및 필요성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0574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0116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사업 목표 및 구조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2423160"/>
            <a:ext cx="137160" cy="137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37744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핵심 사업 영역 (3대 축)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1005840" y="2834640"/>
            <a:ext cx="82296" cy="82296"/>
          </a:xfrm>
          <a:prstGeom prst="ellipse">
            <a:avLst/>
          </a:prstGeom>
          <a:solidFill>
            <a:srgbClr val="249E8F"/>
          </a:solidFill>
          <a:ln/>
        </p:spPr>
      </p:sp>
      <p:sp>
        <p:nvSpPr>
          <p:cNvPr id="12" name="Text 7"/>
          <p:cNvSpPr/>
          <p:nvPr/>
        </p:nvSpPr>
        <p:spPr>
          <a:xfrm>
            <a:off x="1207008" y="27432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① AI 메이커스페이스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1005840" y="3200400"/>
            <a:ext cx="82296" cy="82296"/>
          </a:xfrm>
          <a:prstGeom prst="ellipse">
            <a:avLst/>
          </a:prstGeom>
          <a:solidFill>
            <a:srgbClr val="249E8F"/>
          </a:solidFill>
          <a:ln/>
        </p:spPr>
      </p:sp>
      <p:sp>
        <p:nvSpPr>
          <p:cNvPr id="14" name="Text 9"/>
          <p:cNvSpPr/>
          <p:nvPr/>
        </p:nvSpPr>
        <p:spPr>
          <a:xfrm>
            <a:off x="1207008" y="31089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② FlowSpace (온라인 입주)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005840" y="3566160"/>
            <a:ext cx="82296" cy="82296"/>
          </a:xfrm>
          <a:prstGeom prst="ellipse">
            <a:avLst/>
          </a:prstGeom>
          <a:solidFill>
            <a:srgbClr val="249E8F"/>
          </a:solidFill>
          <a:ln/>
        </p:spPr>
      </p:sp>
      <p:sp>
        <p:nvSpPr>
          <p:cNvPr id="16" name="Text 11"/>
          <p:cNvSpPr/>
          <p:nvPr/>
        </p:nvSpPr>
        <p:spPr>
          <a:xfrm>
            <a:off x="1207008" y="347472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③ AI 취창업 교육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3886200"/>
            <a:ext cx="137160" cy="1371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8404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제안사 역량 (FlowCoder)</a:t>
            </a:r>
            <a:endParaRPr lang="en-US" sz="1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4251960"/>
            <a:ext cx="137160" cy="1371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" y="420624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추진 일정 및 기대효과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612900000" dist="483870000" dir="162000000000">
              <a:srgbClr val="000000">
                <a:alpha val="40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6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사업 배경 및 필요성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4297680"/>
            <a:ext cx="5486400" cy="4572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483870000" dist="161290000" dir="162000000000">
              <a:srgbClr val="000000">
                <a:alpha val="200000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환경 분석 및 문제 정의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9164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459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시대 도래 → 직무 역량 패러다임 전환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05840" y="210312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201168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생성형 AI (ChatGPT, Claude) 폭발적 성장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423160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37744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지역 청년의 수도권 집중 현상 심화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05840" y="283464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1207008" y="27432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지역 내 양질의 일자리 부족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3154680"/>
            <a:ext cx="137160" cy="137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10896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기존 청년정책의 한계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005840" y="356616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1"/>
          <p:cNvSpPr/>
          <p:nvPr/>
        </p:nvSpPr>
        <p:spPr>
          <a:xfrm>
            <a:off x="1207008" y="347472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교육 후 연계 부족, 단발성 지원, 생태계 미비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3886200"/>
            <a:ext cx="137160" cy="1371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8404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아이디어 → 구현 갭 (Execution Gap)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1005840" y="42976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4"/>
          <p:cNvSpPr/>
          <p:nvPr/>
        </p:nvSpPr>
        <p:spPr>
          <a:xfrm>
            <a:off x="1207008" y="42062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좋은 아이디어가 있어도 구현 역량 부족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20483830000000" dist="6145149000000" dir="9720000000000000">
              <a:srgbClr val="000000">
                <a:alpha val="4000000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6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사업 목표 및 구조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4297680"/>
            <a:ext cx="5486400" cy="4572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6145149000000" dist="2048383000000" dir="9720000000000000">
              <a:srgbClr val="000000">
                <a:alpha val="20000000000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비전 및 미션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비전</a:t>
            </a: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"AI로 흐르는 지역 청년 창업 생태계"</a:t>
            </a: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📋 미션</a:t>
            </a: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청년 AI 역량 강화를 통한 취창업 경쟁력 제고</a:t>
            </a: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거리 제약 없는 창업 환경 조성</a:t>
            </a: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시민 참여형 공공 서비스 혁신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78043392300000000" dist="26014464100000000" dir="583200000000000000000">
              <a:srgbClr val="000000">
                <a:alpha val="2000000000000000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사업 구조: 3대 핵심 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┌────────────────────────────────────────────────────────┐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AI 취창업     →    AI 메이커     →    FlowSpace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교육              스페이스           (입주)  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역량 강화      →   아이디어→MVP   →   사업화 공간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─────────────  Flywheel 효과  ──────────────   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취업 연계      →   시범 서비스    →    창업 성장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│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└────────────────────────────────────────────────────────┘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260144641000000000" dist="78043392300000000" dir="583200000000000000000">
              <a:srgbClr val="000000">
                <a:alpha val="400000000000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6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메이커스페이스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4297680"/>
            <a:ext cx="5486400" cy="4572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355600"/>
          </a:xfrm>
          <a:prstGeom prst="rect">
            <a:avLst/>
          </a:prstGeom>
          <a:noFill/>
          <a:ln/>
          <a:effectLst>
            <a:outerShdw sx="100000" sy="100000" kx="0" ky="0" algn="bl" rotWithShape="0" blurRad="991151082210000000000" dist="330383694070000000000" dir="3.4992e+25">
              <a:srgbClr val="000000">
                <a:alpha val="2e+24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메이커스페이스: 시민 아이디어 → 공공 서비스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042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9164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459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컨셉: 시민이 원하는 형태의 공공 웹/앱 서비스 구현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0574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0116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운영 프로세스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05840" y="24688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6"/>
          <p:cNvSpPr/>
          <p:nvPr/>
        </p:nvSpPr>
        <p:spPr>
          <a:xfrm>
            <a:off x="1207008" y="23774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시민 아이디어 접수 → FlowCanvas 진단 (AI 구조화)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283464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1207008" y="27432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패스트트랙 선정 → AutoFlow MVP 생성 (48시간)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005840" y="320040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0"/>
          <p:cNvSpPr/>
          <p:nvPr/>
        </p:nvSpPr>
        <p:spPr>
          <a:xfrm>
            <a:off x="1207008" y="31089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시범 운영 (3개월) → 정식 서비스화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3520440"/>
            <a:ext cx="137160" cy="1371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34747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핵심 프로그램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1005840" y="393192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8" name="Text 13"/>
          <p:cNvSpPr/>
          <p:nvPr/>
        </p:nvSpPr>
        <p:spPr>
          <a:xfrm>
            <a:off x="1207008" y="384048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시민 아이디어 워크샵 (포스트잇 방식 + AI 구조화)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005840" y="42976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5"/>
          <p:cNvSpPr/>
          <p:nvPr/>
        </p:nvSpPr>
        <p:spPr>
          <a:xfrm>
            <a:off x="1207008" y="42062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패스트트랙 MVP 프로그램 (48시간 내 생성)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005840" y="466344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17"/>
          <p:cNvSpPr/>
          <p:nvPr/>
        </p:nvSpPr>
        <p:spPr>
          <a:xfrm>
            <a:off x="1207008" y="45720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크리에이터 과정 (수익형 서비스 직접 구현 교육)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3.3038369407e+21" dist="991151082210000000000" dir="3.4992e+25">
              <a:srgbClr val="000000">
                <a:alpha val="4e+24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6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FlowSpace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4297680"/>
            <a:ext cx="5486400" cy="4572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355600"/>
          </a:xfrm>
          <a:prstGeom prst="rect">
            <a:avLst/>
          </a:prstGeom>
          <a:noFill/>
          <a:ln/>
          <a:effectLst>
            <a:outerShdw sx="100000" sy="100000" kx="0" ky="0" algn="bl" rotWithShape="0" blurRad="1.2587618744067e+25" dist="4.195872914689e+24" dir="2.09952e+30">
              <a:srgbClr val="000000">
                <a:alpha val="2e+29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FlowSpace: 거리 제약 없는 온라인 입주 서비스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042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9164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459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컨셉: 거리의 제약을 허문 AI 시대 창업 공간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0574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0116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서비스 구성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05840" y="24688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6"/>
          <p:cNvSpPr/>
          <p:nvPr/>
        </p:nvSpPr>
        <p:spPr>
          <a:xfrm>
            <a:off x="1207008" y="23774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온라인 입주: 사업장 주소지 제공 (사업자등록 가능)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283464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1207008" y="27432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오프라인: 코워킹 스페이스 (데스크, 회의실, 라운지)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005840" y="320040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0"/>
          <p:cNvSpPr/>
          <p:nvPr/>
        </p:nvSpPr>
        <p:spPr>
          <a:xfrm>
            <a:off x="1207008" y="31089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온라인: 메타버스 가상 사무실 (Gather, Spatial)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05840" y="356616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2"/>
          <p:cNvSpPr/>
          <p:nvPr/>
        </p:nvSpPr>
        <p:spPr>
          <a:xfrm>
            <a:off x="1207008" y="347472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커뮤니티: 입주기업 네트워킹 플랫폼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3886200"/>
            <a:ext cx="137160" cy="1371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" y="38404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기대효과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1005840" y="42976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5"/>
          <p:cNvSpPr/>
          <p:nvPr/>
        </p:nvSpPr>
        <p:spPr>
          <a:xfrm>
            <a:off x="1207008" y="42062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관외 청년 창업가 유치 (관내 사업자 등록)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005840" y="466344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17"/>
          <p:cNvSpPr/>
          <p:nvPr/>
        </p:nvSpPr>
        <p:spPr>
          <a:xfrm>
            <a:off x="1207008" y="45720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재택근무 기반 일자리 창출 / 지역 세수 증가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4.1958729146890005e+25" dist="1.2587618744067e+25" dir="2.09952e+30">
              <a:srgbClr val="000000">
                <a:alpha val="4e+29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6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취창업 교육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4297680"/>
            <a:ext cx="5486400" cy="4572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355600"/>
          </a:xfrm>
          <a:prstGeom prst="rect">
            <a:avLst/>
          </a:prstGeom>
          <a:noFill/>
          <a:ln/>
          <a:effectLst>
            <a:outerShdw sx="100000" sy="100000" kx="0" ky="0" algn="bl" rotWithShape="0" blurRad="1.598627580496509e+29" dist="5.3287586016550295e+28" dir="1.259712e+35">
              <a:srgbClr val="000000">
                <a:alpha val="2e+34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취창업 교육: 실전형 AI 역량 강화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042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9164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459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컨셉: AI가 스펙이 된 시대, 실전형 AI 역량 교육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0574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0116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교육 트랙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05840" y="24688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6"/>
          <p:cNvSpPr/>
          <p:nvPr/>
        </p:nvSpPr>
        <p:spPr>
          <a:xfrm>
            <a:off x="1207008" y="23774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기초 (40h): AI 도구 활용 → 취업 연계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283464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1207008" y="27432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바이브코딩 (80h): MVP 직접 구현 → 창업 준비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005840" y="320040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0"/>
          <p:cNvSpPr/>
          <p:nvPr/>
        </p:nvSpPr>
        <p:spPr>
          <a:xfrm>
            <a:off x="1207008" y="31089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자동화 전문가 (120h): n8n/RAG 구축 → 전문 역량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05840" y="356616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2"/>
          <p:cNvSpPr/>
          <p:nvPr/>
        </p:nvSpPr>
        <p:spPr>
          <a:xfrm>
            <a:off x="1207008" y="347472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1:1 멘토링: 맞춤형 창업 지원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3886200"/>
            <a:ext cx="137160" cy="1371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" y="384048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교육 특징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1005840" y="42976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5"/>
          <p:cNvSpPr/>
          <p:nvPr/>
        </p:nvSpPr>
        <p:spPr>
          <a:xfrm>
            <a:off x="1207008" y="42062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이론 &lt; 실습 (70% 이상 실습 비중)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005840" y="466344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17"/>
          <p:cNvSpPr/>
          <p:nvPr/>
        </p:nvSpPr>
        <p:spPr>
          <a:xfrm>
            <a:off x="1207008" y="457200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수료 시 포트폴리오 완성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005840" y="502920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4" name="Text 19"/>
          <p:cNvSpPr/>
          <p:nvPr/>
        </p:nvSpPr>
        <p:spPr>
          <a:xfrm>
            <a:off x="1207008" y="49377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수료 후 커뮤니티 연계 (디스코드)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5.328758601655031e+29" dist="1.598627580496509e+29" dir="1.259712e+35">
              <a:srgbClr val="000000">
                <a:alpha val="4e+34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6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제안사 역량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4297680"/>
            <a:ext cx="5486400" cy="4572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355600"/>
          </a:xfrm>
          <a:prstGeom prst="rect">
            <a:avLst/>
          </a:prstGeom>
          <a:noFill/>
          <a:ln/>
          <a:effectLst>
            <a:outerShdw sx="100000" sy="100000" kx="0" ky="0" algn="bl" rotWithShape="0" blurRad="2.0302570272305663e+33" dist="6.767523424101888e+32" dir="7.558272e+39">
              <a:srgbClr val="000000">
                <a:alpha val="2e+39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FlowCoder 포트폴리오: 11개 AI 솔루션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042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9164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459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AX 컨설팅 (2개) ⭐ 본 사업 핵심 기술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05840" y="210312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201168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FlowCanvas (첫 자동화 성공 시스템, 8단계 여정)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24688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1207008" y="23774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AutoFlow (Quick Win → 48시간 MVP 자동 생성)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788920"/>
            <a:ext cx="137160" cy="137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74320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크리에이티브 (4개)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05840" y="320040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0"/>
          <p:cNvSpPr/>
          <p:nvPr/>
        </p:nvSpPr>
        <p:spPr>
          <a:xfrm>
            <a:off x="1207008" y="31089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FlowRetouch (AI 웨딩 사진 보정, 스튜디오 품질)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005840" y="356616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2"/>
          <p:cNvSpPr/>
          <p:nvPr/>
        </p:nvSpPr>
        <p:spPr>
          <a:xfrm>
            <a:off x="1207008" y="347472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FlowStudio (이커머스 상품 이미지, $0.04/장)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005840" y="393192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8" name="Text 14"/>
          <p:cNvSpPr/>
          <p:nvPr/>
        </p:nvSpPr>
        <p:spPr>
          <a:xfrm>
            <a:off x="1207008" y="384048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Gini AI (PDF→AI 아바타 영상, 15분 내 제작)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005840" y="42976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6"/>
          <p:cNvSpPr/>
          <p:nvPr/>
        </p:nvSpPr>
        <p:spPr>
          <a:xfrm>
            <a:off x="1207008" y="42062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PPTMaker (AI PPT 자동 생성, 98% 비용 절감)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4617720"/>
            <a:ext cx="137160" cy="1371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7240" y="457200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플랫폼 (4개)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1005840" y="502920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4" name="Text 19"/>
          <p:cNvSpPr/>
          <p:nvPr/>
        </p:nvSpPr>
        <p:spPr>
          <a:xfrm>
            <a:off x="1207008" y="49377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코나래 (정부 지원사업 통합, 10K+ 동시 사용자)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1005840" y="539496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Text 21"/>
          <p:cNvSpPr/>
          <p:nvPr/>
        </p:nvSpPr>
        <p:spPr>
          <a:xfrm>
            <a:off x="1207008" y="530352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OneTrip (AI 여행 일정 자동화)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05840" y="576072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8" name="Text 23"/>
          <p:cNvSpPr/>
          <p:nvPr/>
        </p:nvSpPr>
        <p:spPr>
          <a:xfrm>
            <a:off x="1207008" y="566928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Weave (프리랜서 운영 자동화, 주 10시간+ 절약)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1005840" y="612648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0" name="Text 25"/>
          <p:cNvSpPr/>
          <p:nvPr/>
        </p:nvSpPr>
        <p:spPr>
          <a:xfrm>
            <a:off x="1207008" y="603504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Flow_Coder (바이브코딩 개발자 커뮤니티)</a:t>
            </a:r>
            <a:endParaRPr lang="en-US" sz="1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6446520"/>
            <a:ext cx="137160" cy="1371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77240" y="640080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자동화/개발자도구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1005840" y="6858000"/>
            <a:ext cx="82296" cy="8229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Text 28"/>
          <p:cNvSpPr/>
          <p:nvPr/>
        </p:nvSpPr>
        <p:spPr>
          <a:xfrm>
            <a:off x="1207008" y="67665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FlowCoder Skills (95% 개발시간 단축)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2.578426424582819e+37" dist="8.594754748609397e+36" dir="4.5349632000000006e+44">
              <a:srgbClr val="000000">
                <a:alpha val="1.9999999999999998e+44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검증된 성과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┌──────────────────┬──────────────────┬──────────────────┐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                  │                  │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98%        │       95%        │      10K+        │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비용 절감     │    시간 단축     │   스케일 검증    │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                  │                  │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PPTMaker      │  FlowCoder       │     코나래       │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    Skills        │                  │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                  │                  │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└──────────────────┴──────────────────┴──────────────────┘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기술: Claude, OpenAI, LangGraph | n8n, RAG | Next.js, Supabase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6.767523424101889e+33" dist="2.0302570272305663e+33" dir="7.558272e+39">
              <a:srgbClr val="000000">
                <a:alpha val="4e+39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6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추진 일정 및 기대효과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4297680"/>
            <a:ext cx="5486400" cy="4572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추진 일정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2103120"/>
            <a:ext cx="542544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2120" y="1920240"/>
            <a:ext cx="365760" cy="36576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24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1 (1~3개월)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346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인프라 구축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공간/시스템/커리큘럼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65760" cy="36576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249E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4240" y="256032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2 (4~9개월)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4240" y="3017520"/>
            <a:ext cx="2346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파일럿 운영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교육 50명, MVP 5건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47560" y="1920240"/>
            <a:ext cx="365760" cy="36576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249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6960" y="256032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3 (10~24개월)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6960" y="3017520"/>
            <a:ext cx="2346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본격 운영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확대 및 성과 측정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핵심 성과 지표 (KPI)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772400" cy="466344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지표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1년차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2년차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교육 수료자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200명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500명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FlowSpace 입주기업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30개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100개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MVP 제작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12개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30개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취업/창업 연계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50명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150명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일자리 창출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20개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50개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406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차별화 포인트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55040"/>
            <a:ext cx="233172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828800"/>
            <a:ext cx="0" cy="438912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기존 정책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FlowCoder 접근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교육 → 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아이디어 수집 → 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공간 제공 → 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단발성 지원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교육 → 실습 → 포트폴리오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취창업 연계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아이디어 → 48시간 MVP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시범 운영 → 정식 서비스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공간 + 커뮤니티 + 멘토링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성장 지원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Flywheel 효과: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첫 성공 → 확신 → 추가 도전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triangle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8229600" y="5943600"/>
            <a:ext cx="914400" cy="914400"/>
          </a:xfrm>
          <a:prstGeom prst="triangle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3.2746015592201804e+41" dist="1.0915338530733935e+41" dir="2.72097792e+49">
              <a:srgbClr val="000000">
                <a:alpha val="2e+49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6000" b="1" spc="200" kern="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감사합니다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365760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FlowCoder | contact@flowcoder.io</a:t>
            </a:r>
            <a:endParaRPr lang="en-US" sz="20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https://about.flow-coder.com</a:t>
            </a:r>
            <a:endParaRPr lang="en-US" sz="2000" dirty="0"/>
          </a:p>
          <a:p>
            <a:pPr algn="ctr" indent="0" marL="0">
              <a:lnSpc>
                <a:spcPts val="2200"/>
              </a:lnSpc>
              <a:buNone/>
            </a:pPr>
            <a:endParaRPr lang="en-US" sz="20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Build. Automate. Grow.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Auto-generated with unified-ppt</dc:subject>
  <dc:creator>flowcoder-landing</dc:creator>
  <cp:lastModifiedBy>flowcoder-landing</cp:lastModifiedBy>
  <cp:revision>1</cp:revision>
  <dcterms:created xsi:type="dcterms:W3CDTF">2026-01-19T09:45:34Z</dcterms:created>
  <dcterms:modified xsi:type="dcterms:W3CDTF">2026-01-19T09:45:34Z</dcterms:modified>
</cp:coreProperties>
</file>